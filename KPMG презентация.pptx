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71" r:id="rId12"/>
    <p:sldId id="272" r:id="rId13"/>
    <p:sldId id="269" r:id="rId14"/>
    <p:sldId id="270" r:id="rId15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Open Sans ExtraBold" panose="020B0906030804020204" pitchFamily="34" charset="0"/>
      <p:bold r:id="rId21"/>
      <p:boldItalic r:id="rId22"/>
    </p:embeddedFont>
    <p:embeddedFont>
      <p:font typeface="Open Sans Light" panose="020B03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jhd5+agRcMzMVuJYTZNSX2e6DH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86" autoAdjust="0"/>
  </p:normalViewPr>
  <p:slideViewPr>
    <p:cSldViewPr snapToGrid="0">
      <p:cViewPr varScale="1">
        <p:scale>
          <a:sx n="112" d="100"/>
          <a:sy n="112" d="100"/>
        </p:scale>
        <p:origin x="61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30" Type="http://customschemas.google.com/relationships/presentationmetadata" Target="meta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cademica%20&#1040;&#1085;&#1072;&#1083;&#1080;&#1090;&#1080;&#1082;%20&#1076;&#1072;&#1085;&#1085;&#1099;&#1093;\&#1060;&#1048;&#1053;&#1040;&#1051;&#1068;&#1053;&#1067;&#1049;%20&#1055;&#1056;&#1054;&#1045;&#1050;&#1058;\&#1057;&#1090;&#1072;&#1078;&#1080;&#1088;&#1086;&#1074;&#1082;&#1072;%20KPMG\1st%20Task(&#1040;&#1074;&#1090;&#1086;&#1084;&#1072;&#1090;&#1080;&#1095;&#1077;&#1089;&#1082;&#1080;&#1042;&#1086;&#1089;&#1089;&#1090;&#1072;&#1085;&#1086;&#1074;&#1083;&#1077;&#1085;&#1086;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Academica%20&#1040;&#1085;&#1072;&#1083;&#1080;&#1090;&#1080;&#1082;%20&#1076;&#1072;&#1085;&#1085;&#1099;&#1093;\&#1060;&#1048;&#1053;&#1040;&#1051;&#1068;&#1053;&#1067;&#1049;%20&#1055;&#1056;&#1054;&#1045;&#1050;&#1058;\&#1057;&#1090;&#1072;&#1078;&#1080;&#1088;&#1086;&#1074;&#1082;&#1072;%20KPMG\1st%20Task(&#1040;&#1074;&#1090;&#1086;&#1084;&#1072;&#1090;&#1080;&#1095;&#1077;&#1089;&#1082;&#1080;&#1042;&#1086;&#1089;&#1089;&#1090;&#1072;&#1085;&#1086;&#1074;&#1083;&#1077;&#1085;&#1086;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[1st Task(АвтоматическиВосстановлено).xlsx]сводные по топ клиентам!Сводная таблица2</c:name>
    <c:fmtId val="10"/>
  </c:pivotSource>
  <c:chart>
    <c:autoTitleDeleted val="1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'сводные по топ клиентам'!$B$3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'сводные по топ клиентам'!$A$4:$A$12</c:f>
              <c:strCache>
                <c:ptCount val="8"/>
                <c:pt idx="0">
                  <c:v>20-29</c:v>
                </c:pt>
                <c:pt idx="1">
                  <c:v>30-39</c:v>
                </c:pt>
                <c:pt idx="2">
                  <c:v>40-49</c:v>
                </c:pt>
                <c:pt idx="3">
                  <c:v>50-59</c:v>
                </c:pt>
                <c:pt idx="4">
                  <c:v>60-69</c:v>
                </c:pt>
                <c:pt idx="5">
                  <c:v>70+</c:v>
                </c:pt>
                <c:pt idx="6">
                  <c:v>80+</c:v>
                </c:pt>
                <c:pt idx="7">
                  <c:v>n/a</c:v>
                </c:pt>
              </c:strCache>
            </c:strRef>
          </c:cat>
          <c:val>
            <c:numRef>
              <c:f>'сводные по топ клиентам'!$B$4:$B$12</c:f>
              <c:numCache>
                <c:formatCode>General</c:formatCode>
                <c:ptCount val="8"/>
                <c:pt idx="0">
                  <c:v>19</c:v>
                </c:pt>
                <c:pt idx="1">
                  <c:v>48</c:v>
                </c:pt>
                <c:pt idx="2">
                  <c:v>64</c:v>
                </c:pt>
                <c:pt idx="3">
                  <c:v>46</c:v>
                </c:pt>
                <c:pt idx="4">
                  <c:v>41</c:v>
                </c:pt>
                <c:pt idx="5">
                  <c:v>4</c:v>
                </c:pt>
                <c:pt idx="6">
                  <c:v>1</c:v>
                </c:pt>
                <c:pt idx="7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4E-45F4-8F20-3F223536AA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501458272"/>
        <c:axId val="1501455776"/>
      </c:barChart>
      <c:catAx>
        <c:axId val="15014582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Возрастная</a:t>
                </a:r>
                <a:r>
                  <a:rPr lang="ru-RU" baseline="0" dirty="0"/>
                  <a:t> группа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501455776"/>
        <c:crosses val="autoZero"/>
        <c:auto val="1"/>
        <c:lblAlgn val="ctr"/>
        <c:lblOffset val="100"/>
        <c:noMultiLvlLbl val="0"/>
      </c:catAx>
      <c:valAx>
        <c:axId val="15014557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501458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[1st Task(АвтоматическиВосстановлено).xlsx]сводные по топ клиентам!Сводная таблица5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/>
              <a:t>Сфера</a:t>
            </a:r>
            <a:r>
              <a:rPr lang="ru-RU" baseline="0" dirty="0"/>
              <a:t> деятельности</a:t>
            </a:r>
            <a:endParaRPr lang="ru-RU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'сводные по топ клиентам'!$H$3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'сводные по топ клиентам'!$G$4:$G$14</c:f>
              <c:strCache>
                <c:ptCount val="10"/>
                <c:pt idx="0">
                  <c:v>Argiculture</c:v>
                </c:pt>
                <c:pt idx="1">
                  <c:v>Entertainment</c:v>
                </c:pt>
                <c:pt idx="2">
                  <c:v>Financial Services</c:v>
                </c:pt>
                <c:pt idx="3">
                  <c:v>Health</c:v>
                </c:pt>
                <c:pt idx="4">
                  <c:v>IT</c:v>
                </c:pt>
                <c:pt idx="5">
                  <c:v>Manufacturing</c:v>
                </c:pt>
                <c:pt idx="6">
                  <c:v>Property</c:v>
                </c:pt>
                <c:pt idx="7">
                  <c:v>Retail</c:v>
                </c:pt>
                <c:pt idx="8">
                  <c:v>Telecommunications</c:v>
                </c:pt>
                <c:pt idx="9">
                  <c:v>n/a</c:v>
                </c:pt>
              </c:strCache>
            </c:strRef>
          </c:cat>
          <c:val>
            <c:numRef>
              <c:f>'сводные по топ клиентам'!$H$4:$H$14</c:f>
              <c:numCache>
                <c:formatCode>General</c:formatCode>
                <c:ptCount val="10"/>
                <c:pt idx="0">
                  <c:v>6</c:v>
                </c:pt>
                <c:pt idx="1">
                  <c:v>7</c:v>
                </c:pt>
                <c:pt idx="2">
                  <c:v>42</c:v>
                </c:pt>
                <c:pt idx="3">
                  <c:v>41</c:v>
                </c:pt>
                <c:pt idx="4">
                  <c:v>13</c:v>
                </c:pt>
                <c:pt idx="5">
                  <c:v>39</c:v>
                </c:pt>
                <c:pt idx="6">
                  <c:v>16</c:v>
                </c:pt>
                <c:pt idx="7">
                  <c:v>22</c:v>
                </c:pt>
                <c:pt idx="8">
                  <c:v>2</c:v>
                </c:pt>
                <c:pt idx="9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87-4AE6-81F9-4D77D56184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047316528"/>
        <c:axId val="1047315696"/>
      </c:barChart>
      <c:catAx>
        <c:axId val="1047316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47315696"/>
        <c:crosses val="autoZero"/>
        <c:auto val="1"/>
        <c:lblAlgn val="ctr"/>
        <c:lblOffset val="100"/>
        <c:noMultiLvlLbl val="0"/>
      </c:catAx>
      <c:valAx>
        <c:axId val="1047315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7316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e169449784_2_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ge169449784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e169449784_2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ge169449784_2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169449784_2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e169449784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169449784_2_3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e169449784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e169449784_2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ge169449784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4804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149130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800"/>
              <a:buFont typeface="Arial"/>
              <a:buNone/>
              <a:defRPr sz="2800"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2100"/>
              <a:buFont typeface="Arial"/>
              <a:buNone/>
              <a:defRPr sz="2100"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 rot="10800000" flipH="1">
            <a:off x="0" y="0"/>
            <a:ext cx="9163201" cy="514800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37899" y="1895175"/>
            <a:ext cx="3953102" cy="1376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pen Sans ExtraBold"/>
              <a:buNone/>
            </a:pPr>
            <a:r>
              <a:rPr lang="en-US" sz="3500" b="0" i="0" u="none" strike="noStrike" cap="none" dirty="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Sprocket Central Pty Ltd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537900" y="3315475"/>
            <a:ext cx="5550600" cy="49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 Light"/>
              <a:buNone/>
            </a:pPr>
            <a:r>
              <a:rPr lang="en-US" sz="2000" dirty="0" err="1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Botagoz</a:t>
            </a:r>
            <a:r>
              <a:rPr lang="en-US" sz="2000" dirty="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Zhabiyeva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1" descr="Shape 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00" y="1275524"/>
            <a:ext cx="1982300" cy="2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537900" y="3666599"/>
            <a:ext cx="6249600" cy="36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pen Sans Light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Date – 30.01.2026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43874" y="1211200"/>
            <a:ext cx="5459402" cy="170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Exploration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 Development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Open Sans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Interpretation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175E1-DA60-4C98-A883-DAB8339C2BA5}"/>
              </a:ext>
            </a:extLst>
          </p:cNvPr>
          <p:cNvSpPr txBox="1"/>
          <p:nvPr/>
        </p:nvSpPr>
        <p:spPr>
          <a:xfrm>
            <a:off x="227874" y="957739"/>
            <a:ext cx="88033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Бизнес-контекст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Компания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Sprocket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Central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Pty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Ltd предоставила: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исторические данные о клиентах и транзакциях;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новый список из 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1000 потенциальных клиентов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ранее не совершавших покупок.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Маркетинговая команда ожидает, что анализ этих данных позволит: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выявить наиболее перспективных клиентов;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повысить эффективность маркетинговых расходов.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Цель анализа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Определить, каких из 1000 новых клиентов целесообразно выбрать в качестве целевых, чтобы: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максимизировать потенциальную прибыль;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сосредоточить маркетинговые ресурсы на клиентах с высокой ценностью.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Подход основан на анализе поведения и характеристик 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лучших существующих клиентов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CEB737-638E-45B0-A9A2-864053E6042A}"/>
              </a:ext>
            </a:extLst>
          </p:cNvPr>
          <p:cNvSpPr txBox="1"/>
          <p:nvPr/>
        </p:nvSpPr>
        <p:spPr>
          <a:xfrm flipH="1">
            <a:off x="280180" y="1014065"/>
            <a:ext cx="868219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Используемые данные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анализе использованы следующие таблицы: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Customer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Demographic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демографические характеристики клиентов;</a:t>
            </a: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Customer Address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географические данные и тип региона;</a:t>
            </a: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Transactions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история покупок и финансовые показатели.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Новые клиенты не имеют транзакционной истории и анализируются на основе сходства с существующими клиентами.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169449784_2_1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e169449784_2_1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695FED-A35D-477D-A06C-1E20C81D6BF7}"/>
              </a:ext>
            </a:extLst>
          </p:cNvPr>
          <p:cNvSpPr txBox="1"/>
          <p:nvPr/>
        </p:nvSpPr>
        <p:spPr>
          <a:xfrm>
            <a:off x="344466" y="1133605"/>
            <a:ext cx="842615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Объединение данных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анализа была сформирована единая аналитическая таблица: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объединены таблицы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Demographic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Address и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Transactions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выполнена очистка данных и обработка пропусков;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данные приведены к единому формату.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Это позволило анализировать клиентов комплексно — с точки зрения демографии, географии и покупательского поведения.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e169449784_2_16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e169449784_2_16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470C24-5976-49DD-A750-E9DF7AE9B3C5}"/>
              </a:ext>
            </a:extLst>
          </p:cNvPr>
          <p:cNvSpPr txBox="1"/>
          <p:nvPr/>
        </p:nvSpPr>
        <p:spPr>
          <a:xfrm>
            <a:off x="344466" y="1133605"/>
            <a:ext cx="84261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Формирование возрастных групп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удобства анализа: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рассчитан возраст клиентов;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клиенты распределены по возрастным группам (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Age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Group).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Возрастные группы используются для: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сегментации клиентов;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выявления ключевых возрастных категорий среди наиболее ценных клиентов.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e169449784_2_26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e169449784_2_26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1046F-BCF5-401F-9921-9A1DAE0D699F}"/>
              </a:ext>
            </a:extLst>
          </p:cNvPr>
          <p:cNvSpPr txBox="1"/>
          <p:nvPr/>
        </p:nvSpPr>
        <p:spPr>
          <a:xfrm>
            <a:off x="375781" y="1152395"/>
            <a:ext cx="8394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Формирование показателя прибыли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оценки ценности клиентов, рассчитан показатель </a:t>
            </a:r>
            <a:r>
              <a:rPr lang="en-US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Profit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Profit =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list_price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standard_cost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Profit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отражает:</a:t>
            </a:r>
          </a:p>
          <a:p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kk-KZ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реальный вклад клиента в прибыль компании;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различия между клиентами с одинаковым количеством покупок, но разной маржинальностью.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e169449784_2_37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e169449784_2_37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9D750-097A-45F7-AB67-69AFFF8EA80C}"/>
              </a:ext>
            </a:extLst>
          </p:cNvPr>
          <p:cNvSpPr txBox="1"/>
          <p:nvPr/>
        </p:nvSpPr>
        <p:spPr>
          <a:xfrm>
            <a:off x="413359" y="1252603"/>
            <a:ext cx="835726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Географические характеристики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анализ добавлены: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регион проживания клиента;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тип региона (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Remoteness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Area).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География используется для: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выявления концентрации ценных клиентов;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оценки потенциала регионального маркетинга.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e169449784_2_47"/>
          <p:cNvSpPr/>
          <p:nvPr/>
        </p:nvSpPr>
        <p:spPr>
          <a:xfrm>
            <a:off x="-15501" y="-19475"/>
            <a:ext cx="9191400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e169449784_2_47"/>
          <p:cNvSpPr/>
          <p:nvPr/>
        </p:nvSpPr>
        <p:spPr>
          <a:xfrm>
            <a:off x="205025" y="263974"/>
            <a:ext cx="85656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Exploration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A1337E-E7B9-4283-AB23-540EEA1983AE}"/>
              </a:ext>
            </a:extLst>
          </p:cNvPr>
          <p:cNvSpPr txBox="1"/>
          <p:nvPr/>
        </p:nvSpPr>
        <p:spPr>
          <a:xfrm>
            <a:off x="281835" y="909208"/>
            <a:ext cx="81231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Подготовка данных для RFM-анализа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каждого клиента рассчитаны: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Recency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как давно была последняя покупка;</a:t>
            </a: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Frequency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как часто клиент совершал покупки;</a:t>
            </a: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Monetary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суммарная прибыль клиента.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 основе этих показателей сформирована сводная таблица для сегментации клиентов.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RFM-анализ использован для: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сегментации клиентов по уровню ценности;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выявления наиболее лояльных и прибыльных клиентов.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Клиенты разделены на группы в зависимости от значений R, F и M, что позволило определить сегмент 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High-Value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15501" y="-38264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48A1C-E6F1-4DC6-932B-0787C0A2A8BB}"/>
              </a:ext>
            </a:extLst>
          </p:cNvPr>
          <p:cNvSpPr txBox="1"/>
          <p:nvPr/>
        </p:nvSpPr>
        <p:spPr>
          <a:xfrm>
            <a:off x="125260" y="899074"/>
            <a:ext cx="352607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Портрет лучших клиентов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Наиболее ценные клиенты характеризуются: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высокой частотой покупок;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недавними транзакциями;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высокой совокупной прибылью.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Дополнительно выявлены общие паттерны: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определённые возрастные группы;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преобладание регионов;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схожие демографические характеристики.</a:t>
            </a:r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DB53C1-DE2A-4166-ABEE-98F4EAF7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520" y="899074"/>
            <a:ext cx="2383743" cy="171922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F40C0C-E2EB-4F55-8B7C-DB9A7B053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520" y="2829755"/>
            <a:ext cx="2429220" cy="1824193"/>
          </a:xfrm>
          <a:prstGeom prst="rect">
            <a:avLst/>
          </a:prstGeom>
        </p:spPr>
      </p:pic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0000000-0008-0000-09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8256925"/>
              </p:ext>
            </p:extLst>
          </p:nvPr>
        </p:nvGraphicFramePr>
        <p:xfrm>
          <a:off x="3596746" y="1005722"/>
          <a:ext cx="2952892" cy="1611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00000000-0008-0000-09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1419415"/>
              </p:ext>
            </p:extLst>
          </p:nvPr>
        </p:nvGraphicFramePr>
        <p:xfrm>
          <a:off x="3596746" y="2868460"/>
          <a:ext cx="2992774" cy="1928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15501" y="-38264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48A1C-E6F1-4DC6-932B-0787C0A2A8BB}"/>
              </a:ext>
            </a:extLst>
          </p:cNvPr>
          <p:cNvSpPr txBox="1"/>
          <p:nvPr/>
        </p:nvSpPr>
        <p:spPr>
          <a:xfrm>
            <a:off x="205026" y="823954"/>
            <a:ext cx="878612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Применение инсайтов к новым клиентам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Новые клиенты были сопоставлены с профилем лучших существующих клиентов.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 качестве целевых рекомендованы клиенты, которые: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находятся в ключевых возрастных группах;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проживают в приоритетных регионах;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имеют схожие демографические характеристики.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BFFC7B-FDBE-44EE-8067-12F000C5E8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0" t="713" b="34483"/>
          <a:stretch/>
        </p:blipFill>
        <p:spPr>
          <a:xfrm>
            <a:off x="325263" y="2972127"/>
            <a:ext cx="8325123" cy="17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88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15501" y="-38264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E48A1C-E6F1-4DC6-932B-0787C0A2A8BB}"/>
              </a:ext>
            </a:extLst>
          </p:cNvPr>
          <p:cNvSpPr txBox="1"/>
          <p:nvPr/>
        </p:nvSpPr>
        <p:spPr>
          <a:xfrm>
            <a:off x="205025" y="896183"/>
            <a:ext cx="840110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Рекомендации для бизнеса</a:t>
            </a:r>
          </a:p>
          <a:p>
            <a:endParaRPr lang="ru-RU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28600" indent="-228600">
              <a:buAutoNum type="arabicPeriod"/>
            </a:pPr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Таргетинг: 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Сфокусировать маркетинговые кампании на клиентах, максимально похожих на сегмент High-Value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</a:t>
            </a:r>
            <a:endParaRPr lang="ru-RU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>
              <a:buFontTx/>
              <a:buChar char="-"/>
            </a:pP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Приоритизировать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клиентов из ключевых возрастных групп, показавших наибольший вклад в прибыль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Учитывать сферу деятельности как дополнительный фильтр при отборе целевых клиентов</a:t>
            </a:r>
          </a:p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Географическая оптимизация:</a:t>
            </a:r>
          </a:p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Усилить маркетинговую активность в регионах с высокой концентрацией прибыльных клиентов</a:t>
            </a:r>
          </a:p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Персонализация предложений:</a:t>
            </a:r>
          </a:p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Использовать персонализированные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офферы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(скидки, 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апселл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кросс-</a:t>
            </a:r>
            <a:r>
              <a:rPr lang="ru-RU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селл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для клиентов с высоким потенциальным RFM-профилем</a:t>
            </a:r>
          </a:p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Оптимизация маркетингового бюджета: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Сократить массовые кампании с низкой прогнозируемой отдачей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Перераспределить бюджет в пользу целевых сегментов с максимальным ожидаемым ROI</a:t>
            </a:r>
          </a:p>
          <a:p>
            <a:endParaRPr lang="ru-RU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Ожидаемый эффект</a:t>
            </a: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рост конверсии маркетинговых кампаний;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повышение ROI маркетинга;</a:t>
            </a:r>
          </a:p>
          <a:p>
            <a:pPr marL="171450" indent="-171450">
              <a:buFontTx/>
              <a:buChar char="-"/>
            </a:pPr>
            <a:r>
              <a:rPr lang="ru-RU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более эффективное использование маркетинговых ресурсов.</a:t>
            </a:r>
          </a:p>
          <a:p>
            <a:endParaRPr lang="ru-RU" dirty="0"/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9718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37899" y="1895175"/>
            <a:ext cx="3953102" cy="779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Open Sans ExtraBold"/>
              <a:buNone/>
            </a:pPr>
            <a:r>
              <a:rPr lang="en-US" sz="3500" b="0" i="0" u="none" strike="noStrike" cap="non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Appendix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 scaled="0"/>
          </a:gra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Appendix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12E1A-02E2-44D9-96AC-348F15F5F7DC}"/>
              </a:ext>
            </a:extLst>
          </p:cNvPr>
          <p:cNvSpPr txBox="1"/>
          <p:nvPr/>
        </p:nvSpPr>
        <p:spPr>
          <a:xfrm>
            <a:off x="373375" y="957739"/>
            <a:ext cx="821707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Методология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Возраст клиентов рассчитан на основе даты рождения и сгруппирован в возрастные категории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Показатель прибыльности рассчитан как: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Profit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= List Price – Standard Cost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сегментации существующих клиентов применён 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RFM-анализ</a:t>
            </a:r>
            <a:b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Recency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Frequency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Monetary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Сегмент 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High-Value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определён на основе высоких значений F и M и низкого R</a:t>
            </a:r>
          </a:p>
          <a:p>
            <a:pPr marL="285750" indent="-285750">
              <a:buFontTx/>
              <a:buChar char="-"/>
            </a:pP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Применение к новым клиентам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Новые клиенты отбирались по принципу </a:t>
            </a:r>
            <a:r>
              <a:rPr lang="ru-RU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сходства с High-Value </a:t>
            </a:r>
            <a:r>
              <a:rPr lang="ru-RU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</a:t>
            </a:r>
            <a:endParaRPr lang="ru-RU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Использованы признаки: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возрастная группа;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регион и тип региона;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демографические характеристики и сфера деятельности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753</Words>
  <Application>Microsoft Office PowerPoint</Application>
  <PresentationFormat>Экран (16:9)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Open Sans Light</vt:lpstr>
      <vt:lpstr>Arial</vt:lpstr>
      <vt:lpstr>Open Sans</vt:lpstr>
      <vt:lpstr>Open Sans ExtraBold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Ботагоз Жабиева</cp:lastModifiedBy>
  <cp:revision>23</cp:revision>
  <dcterms:modified xsi:type="dcterms:W3CDTF">2026-02-03T13:21:54Z</dcterms:modified>
</cp:coreProperties>
</file>